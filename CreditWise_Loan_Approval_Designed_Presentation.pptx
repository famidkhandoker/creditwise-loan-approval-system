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KNN</c:v>
                </c:pt>
                <c:pt idx="2">
                  <c:v>Gaussian Naive Bayes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86.5</c:v>
                </c:pt>
                <c:pt idx="1">
                  <c:v>76</c:v>
                </c:pt>
                <c:pt idx="2">
                  <c:v>86.5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KNN</c:v>
                </c:pt>
                <c:pt idx="2">
                  <c:v>Gaussian Naive Bayes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78.33</c:v>
                </c:pt>
                <c:pt idx="1">
                  <c:v>62.75</c:v>
                </c:pt>
                <c:pt idx="2">
                  <c:v>80.36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KNN</c:v>
                </c:pt>
                <c:pt idx="2">
                  <c:v>Gaussian Naive Bayes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77.05</c:v>
                </c:pt>
                <c:pt idx="1">
                  <c:v>52.46</c:v>
                </c:pt>
                <c:pt idx="2">
                  <c:v>73.77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KNN</c:v>
                </c:pt>
                <c:pt idx="2">
                  <c:v>Gaussian Naive Bayes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77.69</c:v>
                </c:pt>
                <c:pt idx="1">
                  <c:v>57.14</c:v>
                </c:pt>
                <c:pt idx="2">
                  <c:v>76.92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0775752"/>
        <c:axId val="12053496"/>
      </c:barChart>
      <c:catAx>
        <c:axId val="4207757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3496"/>
        <c:crosses val="autoZero"/>
        <c:auto val="1"/>
        <c:lblAlgn val="ctr"/>
        <c:lblOffset val="100"/>
        <c:noMultiLvlLbl val="0"/>
      </c:catAx>
      <c:valAx>
        <c:axId val="12053496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775752"/>
        <c:crosses val="autoZero"/>
        <c:crossBetween val="between"/>
      </c:valAx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172671a-1a0f-43f9-ab8a-01d3e1a540c7}"/>
      </c:ext>
    </c:extLst>
  </c:chart>
  <c:txPr>
    <a:bodyPr/>
    <a:lstStyle/>
    <a:p>
      <a:pPr>
        <a:defRPr lang="en-US"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457200"/>
            <a:ext cx="1280160" cy="12801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37160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55778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CreditWise Loan Approval System</a:t>
            </a:r>
          </a:p>
          <a:p>
            <a:pPr>
              <a:defRPr sz="2000">
                <a:solidFill>
                  <a:srgbClr val="BAE6FD"/>
                </a:solidFill>
              </a:defRPr>
            </a:pPr>
            <a:r>
              <a:t>Intelligent Loan Approval Prediction Using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Famid Khandoker  •  Md. Ryin Akand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Department of Computer Science &amp; Engineering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Bangladesh University of Business &amp; Technology (BUBT)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Project presentation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26007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103" y="165493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64008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380617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5493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64008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1103" y="236804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1103" y="261505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Dataset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28600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286000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236804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61505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Data Pre-processing &amp; Feature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713" y="3300857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713" y="3575430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Methodology &amp; Machine Learning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24612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246120"/>
            <a:ext cx="64008" cy="7132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8" y="3300857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663" y="3575176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Exploratory Data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0624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206240"/>
            <a:ext cx="64008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713" y="427939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518" y="453529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Model Performance &amp; Comparison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20624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206240"/>
            <a:ext cx="64008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4663" y="427939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535297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Decision Tree Visualization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166360"/>
            <a:ext cx="507492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1520" y="5166360"/>
            <a:ext cx="64008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713" y="525729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531612"/>
            <a:ext cx="469087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Conclusion &amp; Future Direction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Introduction, Problem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136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Loan approval depends on financial, credit, employment and demographic information. Manual assessment can be slow and inconsistent. CreditWise uses machine learning to support preliminary approval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136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Large numbers of applications require systematic analysis. A data-driven model can learn patterns from historical applications and provide consistent preliminary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64008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136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Analyze applicant data</a:t>
            </a:r>
            <a:br/>
            <a:r>
              <a:t>• Clean and transform features</a:t>
            </a:r>
            <a:br/>
            <a:r>
              <a:t>• Perform EDA</a:t>
            </a:r>
            <a:br/>
            <a:r>
              <a:t>• Train 3 classifiers</a:t>
            </a:r>
            <a:br/>
            <a:r>
              <a:t>• Compare Accuracy, Precision, Recall and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Dataset Analysis &amp; 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Preparing applicant data for reliable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Dataset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49194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Personal: Gender, Marital Status, Education</a:t>
            </a:r>
            <a:br/>
            <a:r>
              <a:t>Financial: Applicant/Coapplicant Income, Savings</a:t>
            </a:r>
            <a:br/>
            <a:r>
              <a:t>Risk: Credit Score, DTI Ratio, Existing Loans</a:t>
            </a:r>
            <a:br/>
            <a:r>
              <a:t>Other: Employment Status, Loan Purpose, Property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53035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63931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Pre-processing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33087"/>
            <a:ext cx="49194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Missing values: mean/mode imputation</a:t>
            </a:r>
            <a:br/>
            <a:r>
              <a:t>• Removed Applicant_ID</a:t>
            </a:r>
            <a:br/>
            <a:r>
              <a:t>• Label/One-Hot Encoding</a:t>
            </a:r>
            <a:br/>
            <a:r>
              <a:t>• Train-test split</a:t>
            </a:r>
            <a:br/>
            <a:r>
              <a:t>• StandardScaler for numerical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3035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28016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4447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938528"/>
            <a:ext cx="49194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DTI_Ratio_sq = DTI_Ratio²</a:t>
            </a:r>
            <a:br/>
            <a:r>
              <a:t>Credit_Score_sq = Credit_Score²</a:t>
            </a:r>
            <a:br/>
            <a:r>
              <a:t>Applicant_Income_log = log(1 + Applicant_Income)</a:t>
            </a:r>
            <a:br/>
            <a:r>
              <a:t>These transformations capture nonlinear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74720"/>
            <a:ext cx="53035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474720"/>
            <a:ext cx="64008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363931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Target 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133087"/>
            <a:ext cx="49194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Loan_Approved</a:t>
            </a:r>
            <a:br/>
            <a:r>
              <a:t>1 = Approved</a:t>
            </a:r>
            <a:br/>
            <a:r>
              <a:t>0 = Rejected</a:t>
            </a:r>
            <a:br/>
            <a:r>
              <a:t/>
            </a:r>
            <a:br/>
            <a:r>
              <a:t>The processed features are used as input to the classification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Visual inspection of the applicant dataset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04" y="1234440"/>
            <a:ext cx="2467910" cy="2148840"/>
          </a:xfrm>
          <a:prstGeom prst="rect">
            <a:avLst/>
          </a:prstGeom>
        </p:spPr>
      </p:pic>
      <p:pic>
        <p:nvPicPr>
          <p:cNvPr id="7" name="Picture 6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909" y="1234440"/>
            <a:ext cx="2716845" cy="2148840"/>
          </a:xfrm>
          <a:prstGeom prst="rect">
            <a:avLst/>
          </a:prstGeom>
        </p:spPr>
      </p:pic>
      <p:pic>
        <p:nvPicPr>
          <p:cNvPr id="8" name="Picture 7" descr="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6" y="1234440"/>
            <a:ext cx="3016755" cy="2148840"/>
          </a:xfrm>
          <a:prstGeom prst="rect">
            <a:avLst/>
          </a:prstGeom>
        </p:spPr>
      </p:pic>
      <p:pic>
        <p:nvPicPr>
          <p:cNvPr id="9" name="Picture 8" descr="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841" y="3611880"/>
            <a:ext cx="2828037" cy="2148840"/>
          </a:xfrm>
          <a:prstGeom prst="rect">
            <a:avLst/>
          </a:prstGeom>
        </p:spPr>
      </p:pic>
      <p:pic>
        <p:nvPicPr>
          <p:cNvPr id="10" name="Picture 9" descr="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162" y="3611880"/>
            <a:ext cx="2828338" cy="2148840"/>
          </a:xfrm>
          <a:prstGeom prst="rect">
            <a:avLst/>
          </a:prstGeom>
        </p:spPr>
      </p:pic>
      <p:pic>
        <p:nvPicPr>
          <p:cNvPr id="11" name="Picture 10" descr="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236" y="3611880"/>
            <a:ext cx="2915134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Outlier &amp;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Understanding relationships among important variables</a:t>
            </a:r>
          </a:p>
        </p:txBody>
      </p:sp>
      <p:pic>
        <p:nvPicPr>
          <p:cNvPr id="6" name="Picture 5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6287"/>
            <a:ext cx="5303520" cy="4045425"/>
          </a:xfrm>
          <a:prstGeom prst="rect">
            <a:avLst/>
          </a:prstGeom>
        </p:spPr>
      </p:pic>
      <p:pic>
        <p:nvPicPr>
          <p:cNvPr id="7" name="Picture 6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74791"/>
            <a:ext cx="5303520" cy="39084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05840" y="5623560"/>
            <a:ext cx="1014984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5623560"/>
            <a:ext cx="64008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411579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rPr dirty="0"/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" y="5707022"/>
            <a:ext cx="9765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dirty="0"/>
              <a:t>Correlation analysis helps identify relationships between numerical features and loan approval; boxplots highlight spread and potential outliers.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Methodology &amp; Machine Learning Models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30552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Pre-processing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0904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58184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58184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EDA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85816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85816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Feature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6168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13448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13448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Scaling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41080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Model 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71432" y="1536192"/>
            <a:ext cx="105156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268712" y="13258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68712" y="1444752"/>
            <a:ext cx="530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1938528"/>
            <a:ext cx="1188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Evaluation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880360"/>
            <a:ext cx="347472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2880360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" y="30449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Logistic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3538728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Binary classifier that estimates approval probability. Strong baseline and 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1688" y="2880360"/>
            <a:ext cx="347472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1688" y="2880360"/>
            <a:ext cx="6400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62855" y="30449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K-Nearest Neighbors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5" y="3538728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Distance-based classifier. Scaling is important because predictions depend on feature distances.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37575" y="2880360"/>
            <a:ext cx="3474720" cy="2331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37575" y="2880360"/>
            <a:ext cx="6400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38744" y="30449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Gaussian Naive Bayes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744" y="3538728"/>
            <a:ext cx="30906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Probabilistic classifier based on Bayes' theorem with Gaussian feature assumptions.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Three-model comparison using four evaluation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6492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298448"/>
                <a:gridCol w="1298448"/>
                <a:gridCol w="1298448"/>
                <a:gridCol w="1298448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78.33%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77.05%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77.69%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62.75%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52.46%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57.14%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Gaussian Naive Bayes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80.36%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73.77%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76.92%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0" y="1234440"/>
          <a:ext cx="4343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3977639"/>
            <a:ext cx="612648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977639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4142231"/>
            <a:ext cx="5760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636007"/>
            <a:ext cx="574243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Logistic Regression and Gaussian Naive Bayes both achieved 86.5% accuracy. Gaussian Naive Bayes had the highest precision (80.36%), while Logistic Regression led in recall (77.05%) and F1-score (77.69%).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41"/>
                </a:solidFill>
              </a:defRPr>
            </a:pPr>
            <a:r>
              <a:t>Decision Tree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Separate visualization for understanding hierarchical feature-based decisions</a:t>
            </a:r>
          </a:p>
        </p:txBody>
      </p:sp>
      <p:pic>
        <p:nvPicPr>
          <p:cNvPr id="6" name="Picture 5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3949"/>
            <a:ext cx="7315200" cy="36159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17320"/>
            <a:ext cx="33375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141732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9328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2075688"/>
            <a:ext cx="2953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Each node applies a feature threshold; branches lead to progressively more specific approval/rejection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40"/>
            <a:ext cx="33375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306324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32278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Why separate?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557143"/>
            <a:ext cx="2953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The reported numerical comparison uses Logistic Regression, KNN and Gaussian Naive Bayes. The Decision Tree is shown as an additional model visualization.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709160"/>
            <a:ext cx="33375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470916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4732147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Key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5038598"/>
            <a:ext cx="2953512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Tree visualization improves interpretability of rule-based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CreditWise Loan Approval System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Conclusion &amp; Future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4873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CreditWise demonstrates a complete ML pipeline for loan approval prediction.</a:t>
            </a:r>
            <a:br/>
            <a:r>
              <a:t>• Logistic Regression and Gaussian Naive Bayes achieved 86.5% accuracy.</a:t>
            </a:r>
            <a:br/>
            <a:r>
              <a:t>• Gaussian Naive Bayes achieved the highest precision.</a:t>
            </a:r>
            <a:br/>
            <a:r>
              <a:t>• Logistic Regression achieved the best recall and F1-score.</a:t>
            </a:r>
            <a:br/>
            <a:r>
              <a:t>• KNN performed lower on this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64008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5361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41"/>
                </a:solidFill>
              </a:defRPr>
            </a:pPr>
            <a:r>
              <a:t>Future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7"/>
            <a:ext cx="4873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Hyperparameter tuning and cross-validation</a:t>
            </a:r>
            <a:br/>
            <a:r>
              <a:t>• ROC-AUC analysis</a:t>
            </a:r>
            <a:br/>
            <a:r>
              <a:t>• Explainable AI for transparent decisions</a:t>
            </a:r>
            <a:br/>
            <a:r>
              <a:t>• Fairness and bias analysis</a:t>
            </a:r>
            <a:br/>
            <a:r>
              <a:t>• FastAPI/Flask deployment</a:t>
            </a:r>
            <a:br/>
            <a:r>
              <a:t>• Web or mobile prediction interface</a:t>
            </a:r>
            <a:br/>
            <a:r>
              <a:t>• Real-time applicant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7DD3F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FAMID KHANDOKER</cp:lastModifiedBy>
  <cp:revision>4</cp:revision>
  <dcterms:created xsi:type="dcterms:W3CDTF">2013-01-27T09:14:00Z</dcterms:created>
  <dcterms:modified xsi:type="dcterms:W3CDTF">2026-08-18T16:23:48Z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CEC131E84F164B9E8B03E44BC3B69AAB_12</vt:lpwstr>
  </property>
</Properties>
</file>